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109728"/>
            <a:ext cx="3227832" cy="6638544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PulmoScan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8B8B"/>
                </a:solidFill>
              </a:rPr>
              <a:t>Lung Cancer Subtype Prediction &amp;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8B8B"/>
                </a:solidFill>
              </a:rPr>
              <a:t>Clinical Decision Support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5029200" cy="45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Prepared by: FIKIRI Bienvenu Regis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050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F"/>
                </a:solidFill>
              </a:rPr>
              <a:t>Reg No: 23RP20298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FF"/>
                </a:solidFill>
              </a:rPr>
              <a:t>Department of ICT  |  Rwanda Polytechnic – Huye College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8DF"/>
                </a:solidFill>
              </a:rPr>
              <a:t>Supervisor: UMUTONI Marie  |  Academic Year 2025 –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8B"/>
                </a:solidFill>
              </a:rPr>
              <a:t>Key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005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6A34A"/>
                </a:solidFill>
              </a:rPr>
              <a:t>0.7583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</a:rPr>
              <a:t>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965960"/>
            <a:ext cx="2377440" cy="18288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1031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73E8"/>
                </a:solidFill>
              </a:rPr>
              <a:t>0.7859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</a:rPr>
              <a:t>F1-Score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3063239"/>
            <a:ext cx="2377440" cy="18288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2004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8B8B"/>
                </a:solidFill>
              </a:rPr>
              <a:t>0.9277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</a:rPr>
              <a:t>ROC-AUC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4160520"/>
            <a:ext cx="2377440" cy="18288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29767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8463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</a:rPr>
              <a:t>Cancer Classes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20" y="5257799"/>
            <a:ext cx="2377440" cy="18288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53949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C8FF"/>
                </a:solidFill>
              </a:rPr>
              <a:t>289K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</a:rPr>
              <a:t>Training Rows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94360" cy="68580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0759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234440"/>
            <a:ext cx="3063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3898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F5A"/>
                </a:solidFill>
              </a:rPr>
              <a:t>Introduction &amp; Problem Statement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94360" cy="68580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0759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1234440"/>
            <a:ext cx="3063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3898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F5A"/>
                </a:solidFill>
              </a:rPr>
              <a:t>Objectives &amp; Research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13432"/>
            <a:ext cx="594360" cy="68580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386584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2313432"/>
            <a:ext cx="3063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F5A"/>
                </a:solidFill>
              </a:rPr>
              <a:t>Dataset &amp; Label Reconstruction Methodology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13432"/>
            <a:ext cx="594360" cy="68580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386584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2313432"/>
            <a:ext cx="3063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F5A"/>
                </a:solidFill>
              </a:rPr>
              <a:t>Feature Engineering (32 Features)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92424"/>
            <a:ext cx="594360" cy="68580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465576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392424"/>
            <a:ext cx="3063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5478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F5A"/>
                </a:solidFill>
              </a:rPr>
              <a:t>Model Training &amp; Performance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392424"/>
            <a:ext cx="594360" cy="68580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465576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2280" y="3392424"/>
            <a:ext cx="3063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5478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F5A"/>
                </a:solidFill>
              </a:rPr>
              <a:t>System Architecture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71416"/>
            <a:ext cx="594360" cy="68580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54456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471416"/>
            <a:ext cx="3063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6268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F5A"/>
                </a:solidFill>
              </a:rPr>
              <a:t>Sample Predictions – All 5 Subtypes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471416"/>
            <a:ext cx="594360" cy="68580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54456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80" y="4471416"/>
            <a:ext cx="3063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46268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F5A"/>
                </a:solidFill>
              </a:rPr>
              <a:t>Key Screenshots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50408"/>
            <a:ext cx="594360" cy="68580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6235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" y="5550408"/>
            <a:ext cx="3063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570585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F5A"/>
                </a:solidFill>
              </a:rPr>
              <a:t>Conclusion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Introduction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FF"/>
                </a:solidFill>
              </a:rPr>
              <a:t>Why PulmoScan AI was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486400" cy="2468880"/>
          </a:xfrm>
          <a:prstGeom prst="rect">
            <a:avLst/>
          </a:prstGeom>
          <a:solidFill>
            <a:srgbClr val="E8F4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F5A"/>
                </a:solidFill>
              </a:rPr>
              <a:t>Global &amp; Rwanda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691640"/>
            <a:ext cx="52120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Lung cancer: 1.8 million deaths/year (WHO 2022)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Leading cause of cancer mortality globally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Rwanda: rising non-communicable disease burden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CHUB data shows increasing lung cancer cases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Early detection dramatically improves survival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94760"/>
            <a:ext cx="5486400" cy="2468880"/>
          </a:xfrm>
          <a:prstGeom prst="rect">
            <a:avLst/>
          </a:prstGeom>
          <a:solidFill>
            <a:srgbClr val="FFF0F0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886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F5A"/>
                </a:solidFill>
              </a:rPr>
              <a:t>Key Problems Identified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297680"/>
            <a:ext cx="52120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No accessible ML-based subtype prediction tool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CT/PET/biopsy — expensive, specialist-dependent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Rwanda community clinics lack specialist oncology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Delays in subtype diagnosis worsen prognosis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No decision-support for frontline healthcare workers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188720"/>
            <a:ext cx="5852160" cy="2468880"/>
          </a:xfrm>
          <a:prstGeom prst="rect">
            <a:avLst/>
          </a:prstGeom>
          <a:solidFill>
            <a:srgbClr val="E8FFF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2801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F5A"/>
                </a:solidFill>
              </a:rPr>
              <a:t>PulmoScan AI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691640"/>
            <a:ext cx="55778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Web app: accessible from any browser, any device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Enter 13 clinical + genomic features in one form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Get 5-class subtype prediction with confidence 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Evidence-based clinical recommendations per subtype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Gemini AI natural-language clinical interpretation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794760"/>
            <a:ext cx="5852160" cy="2468880"/>
          </a:xfrm>
          <a:prstGeom prst="rect">
            <a:avLst/>
          </a:prstGeom>
          <a:solidFill>
            <a:srgbClr val="F0F0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886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F5A"/>
                </a:solidFill>
              </a:rPr>
              <a:t>5 Predicted Subtypes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297680"/>
            <a:ext cx="55778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Adenocarcinoma    (EGFR/ALK mutation driver)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No Cancer         (Low risk, no markers)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Squamous Cell     (KRAS/PD-L1, smoking history)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SCLC              (Heavy smoker, advanced stage)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Other             (High TMB, rare subtypes)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FF"/>
                </a:solidFill>
              </a:rPr>
              <a:t>What PulmoScan AI set out to achieve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0292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087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3075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</a:rPr>
              <a:t>Literature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6916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Review lung cancer epidemiology, ML methods, and Rwanda healthcare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02920" cy="10972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123444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3075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</a:rPr>
              <a:t>Dataset &amp;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916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Acquire LungCanC2024 (289,010 records), run ANOVA label validation, apply medical label reconstruction.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32888"/>
            <a:ext cx="50292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80720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532888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606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Model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990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Train 6 ML algorithms + Voting Ensemble; evaluate with Accuracy, F1, ROC-AUC.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532888"/>
            <a:ext cx="502920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80720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2532888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606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5-Class Subtype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990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Build EGFR/KRAS/ALK-driven 5-class subtype prediction module.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31335"/>
            <a:ext cx="50292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105655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831335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904487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Recommendation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28853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Deliver subtype-specific evidence-based clinical recommendations.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831335"/>
            <a:ext cx="50292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105655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3831335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3904487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Gemini AI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28853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Generate patient-friendly clinical explanations via Gemini 1.5 Flash.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129783"/>
            <a:ext cx="502920" cy="10972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404103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129783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2029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F5A"/>
                </a:solidFill>
              </a:rPr>
              <a:t>Authentication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586983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JWT doctor login with bcrypt password hashing.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129783"/>
            <a:ext cx="502920" cy="109728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5404103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20840" y="5129783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52029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Full Deployment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586983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Next.js 15 + FastAPI + MongoDB with batch prediction and Docker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&amp; Medical Label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FF"/>
                </a:solidFill>
              </a:rPr>
              <a:t>Key methodological contribution: resolving synthetically randomised labels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286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2286000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73E8"/>
                </a:solidFill>
              </a:rPr>
              <a:t>289,010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</a:rPr>
              <a:t>Total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188720"/>
            <a:ext cx="2286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188720"/>
            <a:ext cx="228600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B8B"/>
                </a:solidFill>
              </a:rPr>
              <a:t>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</a:rPr>
              <a:t>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188720"/>
            <a:ext cx="2286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1188720"/>
            <a:ext cx="22860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</a:rPr>
              <a:t>Cancer Classes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1188720"/>
            <a:ext cx="2286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1188720"/>
            <a:ext cx="228600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</a:rPr>
              <a:t>80/20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</a:rPr>
              <a:t>Train/Test Split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1188720"/>
            <a:ext cx="2286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49840" y="1188720"/>
            <a:ext cx="22860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0.9277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</a:rPr>
              <a:t>Best ROC-AUC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377440"/>
            <a:ext cx="11612880" cy="109728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2377440"/>
            <a:ext cx="109728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4414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CRITICAL FINDING: Original Labels Were Synthetically Randomised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27889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A"/>
                </a:solidFill>
              </a:rPr>
              <a:t>ANOVA tests: EGFR vs subtype F=0.51 p=0.725  |  Nodule size F=0.82 p=0.514  |  PET SUVmax F=0.47 p=0.758  |  All F &lt; 1.1, all p &gt; 0.37  -&gt;  NO statistical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363931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F5A"/>
                </a:solidFill>
              </a:rPr>
              <a:t>Medical Label Reconstruction Rules  (IARC/WHO 2021 Lung Tumour Classification)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69080"/>
            <a:ext cx="2231136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069080"/>
            <a:ext cx="2231136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16052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</a:rPr>
              <a:t>96%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572000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F5A"/>
                </a:solidFill>
              </a:rPr>
              <a:t>No Cancer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93776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657A"/>
                </a:solidFill>
              </a:rPr>
              <a:t>EGFR=0 AND ALK=0 AND KRAS=0 AND nodule &lt; 7mm AND PET &lt; 2.5 AND Stage I or lower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96896" y="4069080"/>
            <a:ext cx="2231136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96896" y="4069080"/>
            <a:ext cx="2231136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96896" y="416052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3E8"/>
                </a:solidFill>
              </a:rPr>
              <a:t>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96896" y="4572000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F5A"/>
                </a:solidFill>
              </a:rPr>
              <a:t>Adenocarcinoma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88336" y="493776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657A"/>
                </a:solidFill>
              </a:rPr>
              <a:t>EGFR mutation positive  OR  ALK fusion positive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19472" y="4069080"/>
            <a:ext cx="2231136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19472" y="4069080"/>
            <a:ext cx="2231136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19472" y="416052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93%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19472" y="4572000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F5A"/>
                </a:solidFill>
              </a:rPr>
              <a:t>SCLC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0912" y="493776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657A"/>
                </a:solidFill>
              </a:rPr>
              <a:t>Current smoker  AND  Stage III/IV  AND  nodule &gt; 12 mm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42048" y="4069080"/>
            <a:ext cx="2231136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42048" y="4069080"/>
            <a:ext cx="2231136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42048" y="416052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97706"/>
                </a:solidFill>
              </a:rPr>
              <a:t>91%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42048" y="4572000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F5A"/>
                </a:solidFill>
              </a:rPr>
              <a:t>Squamous Cell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33488" y="493776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657A"/>
                </a:solidFill>
              </a:rPr>
              <a:t>KRAS positive OR PD-L1 &gt; 50%  AND  any smoking history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64624" y="4069080"/>
            <a:ext cx="2231136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564624" y="4069080"/>
            <a:ext cx="2231136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64624" y="416052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88%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624" y="4572000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F5A"/>
                </a:solidFill>
              </a:rPr>
              <a:t>Other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56064" y="493776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657A"/>
                </a:solidFill>
              </a:rPr>
              <a:t>Tumour Mutational Burden &gt; 15  AND  EGFR=0  AND  ALK=0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Feature Engineering — 32 Input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FF"/>
                </a:solidFill>
              </a:rPr>
              <a:t>24 base features + 8 engineered interaction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231136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231136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Clinical (4)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373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patient_age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659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patient_gender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94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smoking_history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4231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family_history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234440"/>
            <a:ext cx="2231136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1234440"/>
            <a:ext cx="2231136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1371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</a:rPr>
              <a:t>CT Imaging (8)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17373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nodule_size_mm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9659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nodule_texture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194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hu_mean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4231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hu_std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6517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glcm_contrast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8803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glcm_correlation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1089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pet_suvmax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337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pet_suvmean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1234440"/>
            <a:ext cx="2231136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2080" y="1234440"/>
            <a:ext cx="2231136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1371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Tumour (2)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17373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tumor_location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19659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tumor_stage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429000"/>
            <a:ext cx="2231136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429000"/>
            <a:ext cx="2231136" cy="109728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566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57A"/>
                </a:solidFill>
              </a:rPr>
              <a:t>Treatment (4)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9319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radiation_therapy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1605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chemotherapy_received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3891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immunotherapy_received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6177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targeted_therapy_received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429000"/>
            <a:ext cx="2231136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0" y="3429000"/>
            <a:ext cx="2231136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3566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Genomic (3)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39319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EGFR mutation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1605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KRAS mutation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43891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ALK fusion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429000"/>
            <a:ext cx="2231136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12080" y="3429000"/>
            <a:ext cx="2231136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0" y="3566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Biomarkers (3)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39319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PD-L1 expression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1605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Tumour Mutational Burden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43891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• cancer_presence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1234440"/>
            <a:ext cx="4160520" cy="47091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0" y="1234440"/>
            <a:ext cx="416052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Engineered (8)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1737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Domain-specific interaction features
created from clinical rules: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2402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F5A"/>
                </a:solidFill>
              </a:rPr>
              <a:t>• adeno_marker = EGFR OR ALK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2697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F5A"/>
                </a:solidFill>
              </a:rPr>
              <a:t>• squamous_marker = KRAS x smoking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3154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F5A"/>
                </a:solidFill>
              </a:rPr>
              <a:t>• sclc_marker = stage&gt;=3 AND nodule&gt;15 AND Current smoker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36118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F5A"/>
                </a:solidFill>
              </a:rPr>
              <a:t>• any_mutation = EGFR+KRAS+ALK &gt; 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40690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F5A"/>
                </a:solidFill>
              </a:rPr>
              <a:t>• pet_high = SUVmax &gt; 8.0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45262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F5A"/>
                </a:solidFill>
              </a:rPr>
              <a:t>• nodule_large = size &gt; 30mm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4983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F5A"/>
                </a:solidFill>
              </a:rPr>
              <a:t>• size_x_pet = size x SUVmax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5440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F5A"/>
                </a:solidFill>
              </a:rPr>
              <a:t>• pd_l1_high = PD-L1 &gt; 50%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Training &amp; Performance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FF"/>
                </a:solidFill>
              </a:rPr>
              <a:t>6 algorithms + Voting Ensemble  |  289,010 rows  |  80/20 stratified split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2286000" cy="4114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1188720"/>
            <a:ext cx="2286000" cy="4114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1188720"/>
            <a:ext cx="2286000" cy="4114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247120" y="1188720"/>
            <a:ext cx="685800" cy="4114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234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234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234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234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1234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645920"/>
            <a:ext cx="11658600" cy="548640"/>
          </a:xfrm>
          <a:prstGeom prst="rect">
            <a:avLst/>
          </a:prstGeom>
          <a:solidFill>
            <a:srgbClr val="E8F8E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17373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* Voting Ensemble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1901952"/>
            <a:ext cx="1678732" cy="2011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7373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0.7583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1901952"/>
            <a:ext cx="1739833" cy="20116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17373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0.7859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1901952"/>
            <a:ext cx="2053752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09960" y="17373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0.9277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47120" y="1755648"/>
            <a:ext cx="5486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0" y="17556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267712"/>
            <a:ext cx="11658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35915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F5A"/>
                </a:solidFill>
              </a:rPr>
              <a:t>  Random Forest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523744"/>
            <a:ext cx="1675411" cy="2011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235915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0.7568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523744"/>
            <a:ext cx="1736070" cy="20116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235915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0.7842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2523744"/>
            <a:ext cx="2053752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09960" y="235915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0.9277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889504"/>
            <a:ext cx="11658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298094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F5A"/>
                </a:solidFill>
              </a:rPr>
              <a:t>  HistGradientBoosting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145536"/>
            <a:ext cx="1670098" cy="2011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298094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0.7544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145536"/>
            <a:ext cx="1731863" cy="20116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298094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0.7823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145536"/>
            <a:ext cx="205574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09960" y="298094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0.9286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511296"/>
            <a:ext cx="11658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60273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F5A"/>
                </a:solidFill>
              </a:rPr>
              <a:t>  XGBoost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3767328"/>
            <a:ext cx="1656373" cy="2011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60273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0.7482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3767328"/>
            <a:ext cx="1720352" cy="20116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23960" y="360273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0.7771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3767328"/>
            <a:ext cx="2055080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09960" y="360273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0.9283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33088"/>
            <a:ext cx="11658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2245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F5A"/>
                </a:solidFill>
              </a:rPr>
              <a:t>  LightGBM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4389120"/>
            <a:ext cx="1656815" cy="2011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422452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0.7484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4389120"/>
            <a:ext cx="1715924" cy="20116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23960" y="422452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0.7751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4389120"/>
            <a:ext cx="205419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09960" y="422452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0.9279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754880"/>
            <a:ext cx="11658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48463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F5A"/>
                </a:solidFill>
              </a:rPr>
              <a:t>  Extra Trees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89120" y="5010912"/>
            <a:ext cx="1651059" cy="2011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37960" y="48463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0.7458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5010912"/>
            <a:ext cx="1704191" cy="20116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23960" y="48463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0.7698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61120" y="5010912"/>
            <a:ext cx="2048881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09960" y="48463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0.9255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376672"/>
            <a:ext cx="11658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546811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F5A"/>
                </a:solidFill>
              </a:rPr>
              <a:t>  Logistic Regression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89120" y="5632704"/>
            <a:ext cx="1529964" cy="2011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37960" y="546811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0.6911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75120" y="5632704"/>
            <a:ext cx="1600142" cy="20116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23960" y="546811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0.7228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61120" y="5632704"/>
            <a:ext cx="1846096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109960" y="546811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F5A"/>
                </a:solidFill>
              </a:rPr>
              <a:t>0.8339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" y="60807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6A34A"/>
                </a:solidFill>
              </a:rPr>
              <a:t>* Deployed Model: Voting Ensemble of top 3 (Random Forest + HistGBM + XGBoost) — soft voting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FF"/>
                </a:solidFill>
              </a:rPr>
              <a:t>Full-stack web application with ML inference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320040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32004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207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0F0FF"/>
                </a:solidFill>
              </a:rPr>
              <a:t>Next.js 15 + 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187451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Predict Form (13 fields)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624327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Dashboard &amp;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374135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Records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123944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Batch CSV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87375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Model Performance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62355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Dark / Light Theme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188720"/>
            <a:ext cx="320040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1188720"/>
            <a:ext cx="3200400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207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0F0FF"/>
                </a:solidFill>
              </a:rPr>
              <a:t>Python 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187451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POST /predict  (ML inference)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624327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GET /statistics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374135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GET /model-info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123944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Auth: JWT + bcrypt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87375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Gemini AI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62355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Batch prediction endpoint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188720"/>
            <a:ext cx="320040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1188720"/>
            <a:ext cx="32004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207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 &amp;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0F0FF"/>
                </a:solidFill>
              </a:rPr>
              <a:t>MongoDB + ML + Gemini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187451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MongoDB: doctors, predictions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624327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best_model.pkl (Voting Ensemble)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374135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scaler.pkl + label_encoder.pkl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123944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feature_columns.pkl (32 features)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87375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model_metrics.json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62355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• Google Gemini 1.5 Flash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3566160"/>
            <a:ext cx="640080" cy="109728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39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F5A"/>
                </a:solidFill>
              </a:rPr>
              <a:t>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3566160"/>
            <a:ext cx="640080" cy="109728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F5A"/>
                </a:solidFill>
              </a:rPr>
              <a:t>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Sample Predictions — All 5 Subtypes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FF"/>
                </a:solidFill>
              </a:rPr>
              <a:t>Real dataset samples + synthetic cases tested on the deployed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011680" cy="4114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261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Predicted Subtype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234440"/>
            <a:ext cx="1463040" cy="4114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0008" y="12618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Patient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1234440"/>
            <a:ext cx="1554480" cy="4114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12618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Age/Gender/Smoke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234440"/>
            <a:ext cx="1828800" cy="4114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1261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Genomic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234440"/>
            <a:ext cx="1645920" cy="4114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6328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Nodule/Stage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1234440"/>
            <a:ext cx="1280160" cy="4114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42248" y="1261872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1234440"/>
            <a:ext cx="1097280" cy="41148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2408" y="126187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673352"/>
            <a:ext cx="2011680" cy="868680"/>
          </a:xfrm>
          <a:prstGeom prst="rect">
            <a:avLst/>
          </a:prstGeom>
          <a:solidFill>
            <a:srgbClr val="F8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1673352"/>
            <a:ext cx="1463040" cy="868680"/>
          </a:xfrm>
          <a:prstGeom prst="rect">
            <a:avLst/>
          </a:prstGeom>
          <a:solidFill>
            <a:srgbClr val="F8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1673352"/>
            <a:ext cx="1554480" cy="868680"/>
          </a:xfrm>
          <a:prstGeom prst="rect">
            <a:avLst/>
          </a:prstGeom>
          <a:solidFill>
            <a:srgbClr val="F8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0" y="1673352"/>
            <a:ext cx="1828800" cy="868680"/>
          </a:xfrm>
          <a:prstGeom prst="rect">
            <a:avLst/>
          </a:prstGeom>
          <a:solidFill>
            <a:srgbClr val="F8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0" y="1673352"/>
            <a:ext cx="1645920" cy="868680"/>
          </a:xfrm>
          <a:prstGeom prst="rect">
            <a:avLst/>
          </a:prstGeom>
          <a:solidFill>
            <a:srgbClr val="F8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78240" y="1673352"/>
            <a:ext cx="1280160" cy="868680"/>
          </a:xfrm>
          <a:prstGeom prst="rect">
            <a:avLst/>
          </a:prstGeom>
          <a:solidFill>
            <a:srgbClr val="F8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0" y="1673352"/>
            <a:ext cx="1097280" cy="868680"/>
          </a:xfrm>
          <a:prstGeom prst="rect">
            <a:avLst/>
          </a:prstGeom>
          <a:solidFill>
            <a:srgbClr val="F8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1874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No Cancer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0008" y="1874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Jean Bosco 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3048" y="1874520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72M Former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67528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EGFR-  KRAS-  ALK-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96328" y="1874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2.2mm  Stage 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2248" y="1874520"/>
            <a:ext cx="1188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87.5%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22408" y="187452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42248" y="2240280"/>
            <a:ext cx="960120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2606040"/>
            <a:ext cx="20116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000" y="2606040"/>
            <a:ext cx="14630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9039" y="2606040"/>
            <a:ext cx="15544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03520" y="2606040"/>
            <a:ext cx="18288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2320" y="2606040"/>
            <a:ext cx="16459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78240" y="2606040"/>
            <a:ext cx="12801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58400" y="2606040"/>
            <a:ext cx="10972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" y="28072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Adenocarcinoma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50008" y="28072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Alice U.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13048" y="2807208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40M Former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67528" y="28072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EGFR+  KRAS-  ALK-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96328" y="28072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5.9mm  Stage II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42248" y="2807208"/>
            <a:ext cx="1188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42.2%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22408" y="2807208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</a:rPr>
              <a:t>Moderate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42248" y="3172968"/>
            <a:ext cx="463052" cy="1645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3538728"/>
            <a:ext cx="2011680" cy="86868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86000" y="3538728"/>
            <a:ext cx="1463040" cy="86868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49039" y="3538728"/>
            <a:ext cx="1554480" cy="86868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03520" y="3538728"/>
            <a:ext cx="1828800" cy="86868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32320" y="3538728"/>
            <a:ext cx="1645920" cy="86868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778240" y="3538728"/>
            <a:ext cx="1280160" cy="86868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058400" y="3538728"/>
            <a:ext cx="1097280" cy="86868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8328" y="373989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SCLC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50008" y="373989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Pierre H.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13048" y="3739896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43M Current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67528" y="373989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EGFR-  KRAS-  ALK-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96328" y="373989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17.3mm Stage IV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42248" y="3739896"/>
            <a:ext cx="1188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69.4%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22408" y="3739896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Critical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42248" y="4105656"/>
            <a:ext cx="76151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4320" y="4471416"/>
            <a:ext cx="20116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286000" y="4471416"/>
            <a:ext cx="14630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749039" y="4471416"/>
            <a:ext cx="15544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03520" y="4471416"/>
            <a:ext cx="18288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32320" y="4471416"/>
            <a:ext cx="16459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778240" y="4471416"/>
            <a:ext cx="12801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058400" y="4471416"/>
            <a:ext cx="10972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8328" y="467258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Squamous Cell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0008" y="46725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Marie Claire M.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13048" y="4672584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54F Former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67528" y="467258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EGFR-  KRAS-  ALK-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96328" y="467258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1.7mm  Stage II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42248" y="4672584"/>
            <a:ext cx="1188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62.6%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22408" y="4672584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</a:rPr>
              <a:t>High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42248" y="5038344"/>
            <a:ext cx="686897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74320" y="5404104"/>
            <a:ext cx="20116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286000" y="5404104"/>
            <a:ext cx="14630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749039" y="5404104"/>
            <a:ext cx="15544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303520" y="5404104"/>
            <a:ext cx="18288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132320" y="5404104"/>
            <a:ext cx="16459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778240" y="5404104"/>
            <a:ext cx="12801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58400" y="5404104"/>
            <a:ext cx="10972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8328" y="56052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Other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50008" y="5605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Emmanuel N.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13048" y="5605272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74M Former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67528" y="560527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EGFR-  KRAS-  ALK-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96328" y="560527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0.3mm  Stage IV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842248" y="5605272"/>
            <a:ext cx="1188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92.6%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22408" y="5605272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</a:rPr>
              <a:t>Moderate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842248" y="5971032"/>
            <a:ext cx="1016081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Prediction Input Form — 13 Clinical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FF"/>
                </a:solidFill>
              </a:rPr>
              <a:t>What the doctor enters to get a subtype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5577840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</a:rPr>
              <a:t>Patient Demographics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73736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Patient Name:   Full name for record keeping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084831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Age:            In years (1–120)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43230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Gender:         Male / Female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77977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Smoking History: Never / Former / Current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1272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Family History: Negative / Positive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57784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</a:rPr>
              <a:t>Clinical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06908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Nodule Size (mm):   Largest diameter from CT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4165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Tumour Location:    Right Lung / Left Lung / Central / Bilateral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7640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Tumour Stage:       Stage I  II  III  IV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188720"/>
            <a:ext cx="5760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188720"/>
            <a:ext cx="576072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Genomic Markers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73736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EGFR Mutation:  Negative / Positive (key Adenocarcinoma marker)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084831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KRAS Mutation:  Negative / Positive (key Squamous Cell marker)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4323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ALK Fusion:     Negative / Positive (secondary Adeno marker)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520440"/>
            <a:ext cx="5760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520440"/>
            <a:ext cx="576072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Biomarkers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06908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PD-L1 Expression (%):    0–100 tumour proportion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41655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                         &gt;50%: guides immunotherapy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76402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Tumour Mutational Burden: Mutations/megabase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11149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A"/>
                </a:solidFill>
              </a:rPr>
              <a:t>•                          &gt;15: suggests Other rare subtypes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Subtype-Specific Clinical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FF"/>
                </a:solidFill>
              </a:rPr>
              <a:t>Evidence-based guidance delivered for each predicted subtype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212848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2212848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207008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 Cancer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572768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5727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Risk: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9659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1. Follow-up imaging in 6–12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1752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2. Annual low-dose CT if high-risk criteria met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69079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3. Smoking cessation counselling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2064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4. Maintain healthy weight and diet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39" y="1188720"/>
            <a:ext cx="2212848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06039" y="1188720"/>
            <a:ext cx="2212848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39" y="1207008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Adenocarcinoma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799" y="1572768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799" y="15727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73E8"/>
                </a:solidFill>
              </a:rPr>
              <a:t>Risk: 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79" y="19659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1. PRIORITY: Thoracic oncology referral within 1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79" y="301752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2. Complete molecular profiling: EGFR, ALK, ROS1, BRAF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79" y="4069079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3. PET-CT for comprehensive staging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79" y="512064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4. MDT tumour board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59" y="1188720"/>
            <a:ext cx="2212848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37759" y="1188720"/>
            <a:ext cx="2212848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59" y="1207008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Squamous Cell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1572768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15727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Risk: 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199" y="19659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1. Urgent referral to thoracic oncology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199" y="301752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2. Bronchoscopy for histological confirmation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199" y="4069079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3. Staging CT chest/abdomen/pelvis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199" y="512064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4. PD-L1 IHC and TMB testing for immunotherapy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79" y="1188720"/>
            <a:ext cx="2212848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69479" y="1188720"/>
            <a:ext cx="221284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79" y="1207008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SCLC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1572768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15727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Risk: Critical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19" y="19659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1. EMERGENCY: Immediate oncology referral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19" y="301752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2. Brain MRI for CNS staging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19" y="4069079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3. Full-body PET-CT scan urgently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19" y="512064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4. EP/EC chemotherapy regimen evaluation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1188720"/>
            <a:ext cx="2212848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200" y="1188720"/>
            <a:ext cx="2212848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1207008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Other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66960" y="1572768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66960" y="15727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</a:rPr>
              <a:t>Risk: Moderate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19659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1. Refer to pulmonology / oncology specialist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301752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2. Complete histological staging workup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4069079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3. Multidisciplinary team consultation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512064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4. Patient education and psychosocial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FF"/>
                </a:solidFill>
              </a:rPr>
              <a:t>Key pages of the PulmoScan AI web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12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743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743200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2560320" cy="1417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0D8"/>
                </a:solidFill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Landing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54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System overview, key features, branding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234440"/>
            <a:ext cx="2743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234440"/>
            <a:ext cx="274320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371600"/>
            <a:ext cx="2560320" cy="1417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0D8"/>
                </a:solidFill>
              </a:rPr>
              <a:t>[ Screenshot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8B"/>
                </a:solidFill>
              </a:rPr>
              <a:t>Doctor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154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JWT-secured email + password auth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234440"/>
            <a:ext cx="2743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234440"/>
            <a:ext cx="2743200" cy="109728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371600"/>
            <a:ext cx="2560320" cy="1417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0D8"/>
                </a:solidFill>
              </a:rPr>
              <a:t>[ Screenshot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F5A"/>
                </a:solidFill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154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KPI cards: total predictions, high risk, today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1234440"/>
            <a:ext cx="2743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52560" y="1234440"/>
            <a:ext cx="274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1371600"/>
            <a:ext cx="2560320" cy="1417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0D8"/>
                </a:solidFill>
              </a:rPr>
              <a:t>[ Screenshot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Prediction 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154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13 fields: demographics, genomic, biomarkers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886200"/>
            <a:ext cx="2743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886200"/>
            <a:ext cx="274320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023360"/>
            <a:ext cx="2560320" cy="1417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0D8"/>
                </a:solidFill>
              </a:rPr>
              <a:t>[ Screenshot 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Prediction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Subtype badge, confidence %, probabilities, recs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886200"/>
            <a:ext cx="2743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3886200"/>
            <a:ext cx="274320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4023360"/>
            <a:ext cx="2560320" cy="1417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0D8"/>
                </a:solidFill>
              </a:rPr>
              <a:t>[ Screenshot 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Gemini AI 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Natural language clinical interpretation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886200"/>
            <a:ext cx="2743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3886200"/>
            <a:ext cx="27432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4023360"/>
            <a:ext cx="2560320" cy="1417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0D8"/>
                </a:solidFill>
              </a:rPr>
              <a:t>[ Screenshot 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Patient Records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Searchable, filterable, downloadable history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3886200"/>
            <a:ext cx="2743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52560" y="3886200"/>
            <a:ext cx="2743200" cy="109728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44000" y="4023360"/>
            <a:ext cx="2560320" cy="1417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0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0D8"/>
                </a:solidFill>
              </a:rPr>
              <a:t>[ Screenshot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57A"/>
                </a:solidFill>
              </a:rPr>
              <a:t>Statistics Page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Charts: trends, subtype distribution, risk levels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7706"/>
                </a:solidFill>
              </a:rPr>
              <a:t>Note: Replace [ Screenshot ] placeholders with actual application screenshots before presenting.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FF"/>
                </a:solidFill>
              </a:rPr>
              <a:t>Open-source tools combined for a production-ready healthcare AI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3657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109728" cy="1143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</a:rPr>
              <a:t>Next.js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Frontend framework — App Router, SSR, TypeScript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1188720"/>
            <a:ext cx="3657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188720"/>
            <a:ext cx="109728" cy="1143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</a:rPr>
              <a:t>Python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Backend REST API — async, Pydantic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188720"/>
            <a:ext cx="3657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188720"/>
            <a:ext cx="109728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Scikit-learn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ML library — RandomForest, ExtraTrees, HistGBM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514600"/>
            <a:ext cx="3657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514600"/>
            <a:ext cx="109728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606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XGBoost / LightGBM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017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Gradient boosting — XGB + LGB in Voting Ensemble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87952" y="2514600"/>
            <a:ext cx="3657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87952" y="2514600"/>
            <a:ext cx="109728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2606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MongoDB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3017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NoSQL database — doctors and predictions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1584" y="2514600"/>
            <a:ext cx="3657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584" y="2514600"/>
            <a:ext cx="109728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4" y="2606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Google Gemini 1.5 Flash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4" y="3017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Generative AI — clinical interpretation text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840480"/>
            <a:ext cx="3657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840480"/>
            <a:ext cx="109728" cy="114300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931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F5A"/>
                </a:solidFill>
              </a:rPr>
              <a:t>JWT + bcrypt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3434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Authentication — secure doctor-only access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87952" y="3840480"/>
            <a:ext cx="3657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87952" y="3840480"/>
            <a:ext cx="109728" cy="114300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16552" y="3931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57A"/>
                </a:solidFill>
              </a:rPr>
              <a:t>Tailwind CSS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6552" y="43434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Utility-first styling — responsive dark/light UI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01584" y="3840480"/>
            <a:ext cx="3657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01584" y="3840480"/>
            <a:ext cx="109728" cy="1143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0184" y="3931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</a:rPr>
              <a:t>Docker Compose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0184" y="43434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Containerised deployment — 3-service orchestration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166359"/>
            <a:ext cx="3657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5166359"/>
            <a:ext cx="109728" cy="1143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25779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</a:rPr>
              <a:t>Recharts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66927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Interactive analytics charts in the Statistics page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87952" y="5166359"/>
            <a:ext cx="3657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87952" y="5166359"/>
            <a:ext cx="109728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16552" y="525779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python-jose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16552" y="566927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JWT token creation and verification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01584" y="5166359"/>
            <a:ext cx="3657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01584" y="5166359"/>
            <a:ext cx="109728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0184" y="525779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Joblib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0184" y="566927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ML model artefact serialisation (.pkl files)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FF"/>
                </a:solidFill>
              </a:rPr>
              <a:t>What was achieved and its significance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F"/>
                </a:solidFill>
              </a:rPr>
              <a:t>PulmoScan AI  |  FIKIRI Bienvenu Regis  |  Rwanda Polytechnic – Huye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7406640" cy="5349240"/>
          </a:xfrm>
          <a:prstGeom prst="rect">
            <a:avLst/>
          </a:prstGeom>
          <a:solidFill>
            <a:srgbClr val="E8F4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801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F5A"/>
                </a:solidFill>
              </a:rPr>
              <a:t>Key Achievements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691640"/>
            <a:ext cx="7132320" cy="4754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Designed, developed and deployed PulmoScan AI v2 — a full-stack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web application for 5-class lung cancer subtype prediction.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Discovered and resolved a critical data quality issue: ANOVA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confirmed the dataset's cancer_subtype labels were randomly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assigned (all F &lt; 1.1, p &gt; 0.37). Applied medical label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reconstruction using IARC/WHO 2021 clinical rules.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Trained 6 ML algorithms + Voting Ensemble on 289,010 records.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Best result: Accuracy 0.7583 | F1 0.7859 | ROC-AUC 0.9277.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Exceeded the 0.75 accuracy target.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Delivered subtype-specific clinical recommendations,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Gemini AI interpretations, batch prediction, doctor authentication,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and a full analytics dashboard.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188720"/>
            <a:ext cx="128016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2344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0.7583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2600" y="1188720"/>
            <a:ext cx="1280160" cy="10972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2344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0.7859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19" y="1188720"/>
            <a:ext cx="128016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19" y="12344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0.9277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19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2468880"/>
            <a:ext cx="3977639" cy="4069080"/>
          </a:xfrm>
          <a:prstGeom prst="rect">
            <a:avLst/>
          </a:prstGeom>
          <a:solidFill>
            <a:srgbClr val="FFF8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56032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F5A"/>
                </a:solidFill>
              </a:rPr>
              <a:t>Top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971800"/>
            <a:ext cx="3703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1. Collect real biopsy-confirmed Rwandan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   patient data from CHUB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2. Add CNN module for chest X-ray / CT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   image processing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3. Develop React Native mobile app for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   community health workers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4. Conduct formal clinical validation study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   with oncology professionals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5. Add longitudinal patient tracking across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A"/>
                </a:solidFill>
              </a:rPr>
              <a:t>     multiple assessment visits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743200"/>
            <a:ext cx="67025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B8B"/>
                </a:solidFill>
              </a:rPr>
              <a:t>PulmoScan AI — Lung Cancer Subtype Prediction &amp; Clinical Decision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FIKIRI Bienvenu Regis  |  Reg No: 23RP20298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FF"/>
                </a:solidFill>
              </a:rPr>
              <a:t>Department of ICT  |  Rwanda Polytechnic – Huye College  |  2025–2026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663440"/>
            <a:ext cx="1737360" cy="10972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</a:rPr>
              <a:t>0.7583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85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FF"/>
                </a:solidFill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4663440"/>
            <a:ext cx="1737360" cy="10972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4709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3E8"/>
                </a:solidFill>
              </a:rPr>
              <a:t>0.7859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285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FF"/>
                </a:solidFill>
              </a:rPr>
              <a:t>F1-Score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4663440"/>
            <a:ext cx="1737360" cy="10972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4709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</a:rPr>
              <a:t>0.9277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5285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FF"/>
                </a:solidFill>
              </a:rPr>
              <a:t>ROC-AUC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4663440"/>
            <a:ext cx="1737360" cy="10972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4709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5285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FF"/>
                </a:solidFill>
              </a:rPr>
              <a:t>Classes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4663440"/>
            <a:ext cx="1737360" cy="10972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709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C8FF"/>
                </a:solidFill>
              </a:rPr>
              <a:t>Voting Ensemble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285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FF"/>
                </a:solidFill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521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0A8DF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